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33500" y="876300"/>
            <a:ext cx="952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500" b="0">
                <a:solidFill>
                  <a:srgbClr val="C9D8ED"/>
                </a:solidFill>
                <a:latin typeface="Noto Sans"/>
                <a:cs typeface="Noto Sans Arabic"/>
              </a:rPr>
              <a:t>جامعة دمشق — كلية الهندسة المعلوماتية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3500" y="1200150"/>
            <a:ext cx="9525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200" b="0">
                <a:solidFill>
                  <a:srgbClr val="9FB6D6"/>
                </a:solidFill>
                <a:latin typeface="Noto Sans"/>
                <a:cs typeface="Noto Sans Arabic"/>
              </a:rPr>
              <a:t>مادة الحقائق الافتراضية · 2025 /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1981200"/>
            <a:ext cx="10477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4200" b="1">
                <a:solidFill>
                  <a:srgbClr val="FFFFFF"/>
                </a:solidFill>
                <a:latin typeface="Noto Sans"/>
                <a:cs typeface="Noto Sans Arabic"/>
              </a:rPr>
              <a:t>دلو الطلاء المتأرجح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2857500"/>
            <a:ext cx="8572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0">
                <a:solidFill>
                  <a:srgbClr val="9FB6D6"/>
                </a:solidFill>
                <a:latin typeface="Noto Sans"/>
                <a:cs typeface="Noto Sans Arabic"/>
              </a:rPr>
              <a:t>Swinging Paint Bucket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276600"/>
            <a:ext cx="952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600" b="0">
                <a:solidFill>
                  <a:srgbClr val="DDE7F5"/>
                </a:solidFill>
                <a:latin typeface="Noto Sans"/>
                <a:cs typeface="Noto Sans Arabic"/>
              </a:rPr>
              <a:t>دلوٌ يتأرجح، وطلاءٌ يتدفق، ولوحةٌ تُرسَم أمامكم — دون أي محرك فيزيائي جاهز</a:t>
            </a:r>
          </a:p>
        </p:txBody>
      </p:sp>
      <p:sp>
        <p:nvSpPr>
          <p:cNvPr id="7" name="Rectangle 6"/>
          <p:cNvSpPr/>
          <p:nvPr/>
        </p:nvSpPr>
        <p:spPr>
          <a:xfrm>
            <a:off x="5381625" y="3848100"/>
            <a:ext cx="1428750" cy="28575"/>
          </a:xfrm>
          <a:prstGeom prst="rect">
            <a:avLst/>
          </a:prstGeom>
          <a:solidFill>
            <a:srgbClr val="9FB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4114800"/>
            <a:ext cx="10477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Noto Sans"/>
                <a:cs typeface="Noto Sans Arabic"/>
              </a:rPr>
              <a:t>محمد مروان العيشات  ·  محمد فرحان غصن  ·  محمد سمير الجاعوني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419600"/>
            <a:ext cx="10477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Noto Sans"/>
                <a:cs typeface="Noto Sans Arabic"/>
              </a:rPr>
              <a:t>محمد ياسر الدخل الله  ·  محمد قاسم السحوم  ·  علاء محمد الشريف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9750" y="4876800"/>
            <a:ext cx="8572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300" b="0">
                <a:solidFill>
                  <a:srgbClr val="C9D8ED"/>
                </a:solidFill>
                <a:latin typeface="Noto Sans"/>
                <a:cs typeface="Noto Sans Arabic"/>
              </a:rPr>
              <a:t>بإشراف: المهندس خالد إسماعيل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3500" y="6505575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solidFill>
                  <a:srgbClr val="9FB6D6"/>
                </a:solidFill>
                <a:latin typeface="Noto Sans"/>
                <a:cs typeface="Noto Sans Arabic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61950"/>
            <a:ext cx="11049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1300" b="1">
                <a:solidFill>
                  <a:srgbClr val="1F3B63"/>
                </a:solidFill>
                <a:latin typeface="Noto Sans"/>
                <a:cs typeface="Noto Sans Arabic"/>
              </a:rPr>
              <a:t>ما المشروع؟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28650"/>
            <a:ext cx="11049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2700" b="1">
                <a:solidFill>
                  <a:srgbClr val="14181B"/>
                </a:solidFill>
                <a:latin typeface="Noto Sans"/>
                <a:cs typeface="Noto Sans Arabic"/>
              </a:rPr>
              <a:t>الفكرة في جملة واحدة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0" y="1447800"/>
            <a:ext cx="5429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2100" b="1">
                <a:solidFill>
                  <a:srgbClr val="14181B"/>
                </a:solidFill>
                <a:latin typeface="Noto Sans"/>
                <a:cs typeface="Noto Sans Arabic"/>
              </a:rPr>
              <a:t>بنينا مختبرًا فيزيائيًا افتراضيًا: دلو طلاءٍ يتأرجح كالنواس، ويرسم لوحة فنية حقيقية.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0" y="2781300"/>
            <a:ext cx="5429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1600" b="0">
                <a:solidFill>
                  <a:srgbClr val="14181B"/>
                </a:solidFill>
                <a:latin typeface="Noto Sans"/>
                <a:cs typeface="Noto Sans Arabic"/>
              </a:rPr>
              <a:t>•  كل قانون حركة مكتوب بأيدينا — لا RigidBody ولا Colliders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1250" y="3181350"/>
            <a:ext cx="5429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1600" b="0">
                <a:solidFill>
                  <a:srgbClr val="14181B"/>
                </a:solidFill>
                <a:latin typeface="Noto Sans"/>
                <a:cs typeface="Noto Sans Arabic"/>
              </a:rPr>
              <a:t>•  كل مدخل فيزيائي بيد المستخدم أثناء التشغيل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0" y="3581400"/>
            <a:ext cx="54292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1600" b="0">
                <a:solidFill>
                  <a:srgbClr val="14181B"/>
                </a:solidFill>
                <a:latin typeface="Noto Sans"/>
                <a:cs typeface="Noto Sans Arabic"/>
              </a:rPr>
              <a:t>•  كل تجربة تُحفَظ: صورة + تقرير + مقارنة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6250" y="4210050"/>
            <a:ext cx="3524250" cy="438150"/>
          </a:xfrm>
          <a:prstGeom prst="roundRect">
            <a:avLst>
              <a:gd name="adj" fmla="val 21739"/>
            </a:avLst>
          </a:prstGeom>
          <a:solidFill>
            <a:srgbClr val="EDF2F9"/>
          </a:solidFill>
          <a:ln w="19050">
            <a:solidFill>
              <a:srgbClr val="C6D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6250" y="4210050"/>
            <a:ext cx="35242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F3B63"/>
                </a:solidFill>
                <a:latin typeface="Noto Sans"/>
                <a:cs typeface="Noto Sans Arabic"/>
              </a:rPr>
              <a:t>Unity · C# · SPH — from scratch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1524000"/>
            <a:ext cx="5238750" cy="381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1905000" y="1952625"/>
            <a:ext cx="2571750" cy="0"/>
          </a:xfrm>
          <a:prstGeom prst="line">
            <a:avLst/>
          </a:prstGeom>
          <a:ln w="38100">
            <a:solidFill>
              <a:srgbClr val="6B74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124200" y="1885950"/>
            <a:ext cx="133350" cy="133350"/>
          </a:xfrm>
          <a:prstGeom prst="ellipse">
            <a:avLst/>
          </a:prstGeom>
          <a:solidFill>
            <a:srgbClr val="4A5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3190875" y="1952625"/>
            <a:ext cx="885825" cy="1209675"/>
          </a:xfrm>
          <a:prstGeom prst="line">
            <a:avLst/>
          </a:prstGeom>
          <a:ln w="31750">
            <a:solidFill>
              <a:srgbClr val="4A5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771900" y="3143250"/>
            <a:ext cx="609600" cy="495300"/>
          </a:xfrm>
          <a:prstGeom prst="roundRect">
            <a:avLst>
              <a:gd name="adj" fmla="val 11538"/>
            </a:avLst>
          </a:prstGeom>
          <a:solidFill>
            <a:srgbClr val="F6F8F7"/>
          </a:solidFill>
          <a:ln w="25400">
            <a:solidFill>
              <a:srgbClr val="4A5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29050" y="3238500"/>
            <a:ext cx="495300" cy="152400"/>
          </a:xfrm>
          <a:prstGeom prst="roundRect">
            <a:avLst>
              <a:gd name="adj" fmla="val 25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981450" y="3771900"/>
            <a:ext cx="95250" cy="9525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752850" y="4095750"/>
            <a:ext cx="95250" cy="9525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48050" y="4400550"/>
            <a:ext cx="104775" cy="104775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105150" y="4667250"/>
            <a:ext cx="114300" cy="11430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095750" cy="228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25400">
            <a:solidFill>
              <a:srgbClr val="4A5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866900" y="4953000"/>
            <a:ext cx="95250" cy="95250"/>
          </a:xfrm>
          <a:prstGeom prst="ellipse">
            <a:avLst/>
          </a:prstGeom>
          <a:solidFill>
            <a:srgbClr val="7B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343150" y="4943475"/>
            <a:ext cx="114300" cy="11430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838450" y="4933950"/>
            <a:ext cx="133350" cy="123825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352800" y="4943475"/>
            <a:ext cx="114300" cy="114300"/>
          </a:xfrm>
          <a:prstGeom prst="ellipse">
            <a:avLst/>
          </a:prstGeom>
          <a:solidFill>
            <a:srgbClr val="F6C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" y="5429250"/>
            <a:ext cx="52387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100" b="0">
                <a:solidFill>
                  <a:srgbClr val="6B7480"/>
                </a:solidFill>
                <a:latin typeface="Noto Sans"/>
                <a:cs typeface="Noto Sans Arabic"/>
              </a:rPr>
              <a:t>المشهد كاملًا: تأرجحٌ في الأعلى — لوحةٌ تتلوّن في الأسفل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" y="65532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7480"/>
                </a:solidFill>
                <a:latin typeface="Noto Sans"/>
                <a:cs typeface="Noto Sans Arabic"/>
              </a:rPr>
              <a:t>2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0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61950"/>
            <a:ext cx="11049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1300" b="1">
                <a:solidFill>
                  <a:srgbClr val="1F3B63"/>
                </a:solidFill>
                <a:latin typeface="Noto Sans"/>
                <a:cs typeface="Noto Sans Arabic"/>
              </a:rPr>
              <a:t>كيف يعمل؟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28650"/>
            <a:ext cx="11049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2700" b="1">
                <a:solidFill>
                  <a:srgbClr val="14181B"/>
                </a:solidFill>
                <a:latin typeface="Noto Sans"/>
                <a:cs typeface="Noto Sans Arabic"/>
              </a:rPr>
              <a:t>من التأرجح إلى اللوحة — ست حلقات</a:t>
            </a:r>
          </a:p>
        </p:txBody>
      </p:sp>
      <p:sp>
        <p:nvSpPr>
          <p:cNvPr id="4" name="Oval 3"/>
          <p:cNvSpPr/>
          <p:nvPr/>
        </p:nvSpPr>
        <p:spPr>
          <a:xfrm>
            <a:off x="10544175" y="1676400"/>
            <a:ext cx="342900" cy="34290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44175" y="1676400"/>
            <a:ext cx="3429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Noto Sans"/>
                <a:cs typeface="Noto Sans Arabic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58375" y="2171700"/>
            <a:ext cx="1714500" cy="1428750"/>
          </a:xfrm>
          <a:prstGeom prst="roundRect">
            <a:avLst>
              <a:gd name="adj" fmla="val 6666"/>
            </a:avLst>
          </a:prstGeom>
          <a:solidFill>
            <a:srgbClr val="F6F8F7"/>
          </a:solidFill>
          <a:ln w="19050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53625" y="2171700"/>
            <a:ext cx="15240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450" b="1">
                <a:solidFill>
                  <a:srgbClr val="1F3B63"/>
                </a:solidFill>
                <a:latin typeface="Noto Sans"/>
                <a:cs typeface="Noto Sans Arabic"/>
              </a:rPr>
              <a:t>يتأرجح الدلو</a:t>
            </a:r>
          </a:p>
          <a:p>
            <a:pPr algn="ctr" rtl="1">
              <a:lnSpc>
                <a:spcPct val="118000"/>
              </a:lnSpc>
            </a:pPr>
            <a:r>
              <a:rPr sz="1150" b="0">
                <a:solidFill>
                  <a:srgbClr val="4A5258"/>
                </a:solidFill>
                <a:latin typeface="Noto Sans"/>
                <a:cs typeface="Noto Sans Arabic"/>
              </a:rPr>
              <a:t>معادلة النواس + تخامد الهواء</a:t>
            </a:r>
          </a:p>
        </p:txBody>
      </p:sp>
      <p:sp>
        <p:nvSpPr>
          <p:cNvPr id="8" name="Oval 7"/>
          <p:cNvSpPr/>
          <p:nvPr/>
        </p:nvSpPr>
        <p:spPr>
          <a:xfrm>
            <a:off x="8686800" y="1676400"/>
            <a:ext cx="342900" cy="34290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676400"/>
            <a:ext cx="3429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Noto Sans"/>
                <a:cs typeface="Noto Sans Arabic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171700"/>
            <a:ext cx="1714500" cy="1428750"/>
          </a:xfrm>
          <a:prstGeom prst="roundRect">
            <a:avLst>
              <a:gd name="adj" fmla="val 6666"/>
            </a:avLst>
          </a:prstGeom>
          <a:solidFill>
            <a:srgbClr val="F6F8F7"/>
          </a:solidFill>
          <a:ln w="19050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6250" y="2171700"/>
            <a:ext cx="15240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450" b="1">
                <a:solidFill>
                  <a:srgbClr val="1F3B63"/>
                </a:solidFill>
                <a:latin typeface="Noto Sans"/>
                <a:cs typeface="Noto Sans Arabic"/>
              </a:rPr>
              <a:t>يتموّج الطلاء</a:t>
            </a:r>
          </a:p>
          <a:p>
            <a:pPr algn="ctr" rtl="1">
              <a:lnSpc>
                <a:spcPct val="118000"/>
              </a:lnSpc>
            </a:pPr>
            <a:r>
              <a:rPr sz="1150" b="0">
                <a:solidFill>
                  <a:srgbClr val="4A5258"/>
                </a:solidFill>
                <a:latin typeface="Noto Sans"/>
                <a:cs typeface="Noto Sans Arabic"/>
              </a:rPr>
              <a:t>مائع SPH حقيقي داخل الدلو</a:t>
            </a:r>
          </a:p>
        </p:txBody>
      </p:sp>
      <p:sp>
        <p:nvSpPr>
          <p:cNvPr id="12" name="Oval 11"/>
          <p:cNvSpPr/>
          <p:nvPr/>
        </p:nvSpPr>
        <p:spPr>
          <a:xfrm>
            <a:off x="6829425" y="1676400"/>
            <a:ext cx="342900" cy="34290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29425" y="1676400"/>
            <a:ext cx="3429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Noto Sans"/>
                <a:cs typeface="Noto Sans Arabic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3625" y="2171700"/>
            <a:ext cx="1714500" cy="1428750"/>
          </a:xfrm>
          <a:prstGeom prst="roundRect">
            <a:avLst>
              <a:gd name="adj" fmla="val 6666"/>
            </a:avLst>
          </a:prstGeom>
          <a:solidFill>
            <a:srgbClr val="F6F8F7"/>
          </a:solidFill>
          <a:ln w="19050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8875" y="2171700"/>
            <a:ext cx="15240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450" b="1">
                <a:solidFill>
                  <a:srgbClr val="1F3B63"/>
                </a:solidFill>
                <a:latin typeface="Noto Sans"/>
                <a:cs typeface="Noto Sans Arabic"/>
              </a:rPr>
              <a:t>يخرج من الفتحة</a:t>
            </a:r>
          </a:p>
          <a:p>
            <a:pPr algn="ctr" rtl="1">
              <a:lnSpc>
                <a:spcPct val="118000"/>
              </a:lnSpc>
            </a:pPr>
            <a:r>
              <a:rPr sz="1150" b="0">
                <a:solidFill>
                  <a:srgbClr val="4A5258"/>
                </a:solidFill>
                <a:latin typeface="Noto Sans"/>
                <a:cs typeface="Noto Sans Arabic"/>
              </a:rPr>
              <a:t>قطر الفتحة بيد المستخدم</a:t>
            </a:r>
          </a:p>
        </p:txBody>
      </p:sp>
      <p:sp>
        <p:nvSpPr>
          <p:cNvPr id="16" name="Oval 15"/>
          <p:cNvSpPr/>
          <p:nvPr/>
        </p:nvSpPr>
        <p:spPr>
          <a:xfrm>
            <a:off x="4972050" y="1676400"/>
            <a:ext cx="342900" cy="34290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2050" y="1676400"/>
            <a:ext cx="3429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Noto Sans"/>
                <a:cs typeface="Noto Sans Arabic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6250" y="2171700"/>
            <a:ext cx="1714500" cy="1428750"/>
          </a:xfrm>
          <a:prstGeom prst="roundRect">
            <a:avLst>
              <a:gd name="adj" fmla="val 6666"/>
            </a:avLst>
          </a:prstGeom>
          <a:solidFill>
            <a:srgbClr val="F6F8F7"/>
          </a:solidFill>
          <a:ln w="19050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1500" y="2171700"/>
            <a:ext cx="15240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450" b="1">
                <a:solidFill>
                  <a:srgbClr val="1F3B63"/>
                </a:solidFill>
                <a:latin typeface="Noto Sans"/>
                <a:cs typeface="Noto Sans Arabic"/>
              </a:rPr>
              <a:t>تسقط القطرات</a:t>
            </a:r>
          </a:p>
          <a:p>
            <a:pPr algn="ctr" rtl="1">
              <a:lnSpc>
                <a:spcPct val="118000"/>
              </a:lnSpc>
            </a:pPr>
            <a:r>
              <a:rPr sz="1150" b="0">
                <a:solidFill>
                  <a:srgbClr val="4A5258"/>
                </a:solidFill>
                <a:latin typeface="Noto Sans"/>
                <a:cs typeface="Noto Sans Arabic"/>
              </a:rPr>
              <a:t>جاذبية ومقاومة هواء</a:t>
            </a:r>
          </a:p>
        </p:txBody>
      </p:sp>
      <p:sp>
        <p:nvSpPr>
          <p:cNvPr id="20" name="Oval 19"/>
          <p:cNvSpPr/>
          <p:nvPr/>
        </p:nvSpPr>
        <p:spPr>
          <a:xfrm>
            <a:off x="3114675" y="1676400"/>
            <a:ext cx="342900" cy="34290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14675" y="1676400"/>
            <a:ext cx="3429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Noto Sans"/>
                <a:cs typeface="Noto Sans Arabic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28875" y="2171700"/>
            <a:ext cx="1714500" cy="1428750"/>
          </a:xfrm>
          <a:prstGeom prst="roundRect">
            <a:avLst>
              <a:gd name="adj" fmla="val 6666"/>
            </a:avLst>
          </a:prstGeom>
          <a:solidFill>
            <a:srgbClr val="F6F8F7"/>
          </a:solidFill>
          <a:ln w="19050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24125" y="2171700"/>
            <a:ext cx="15240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450" b="1">
                <a:solidFill>
                  <a:srgbClr val="1F3B63"/>
                </a:solidFill>
                <a:latin typeface="Noto Sans"/>
                <a:cs typeface="Noto Sans Arabic"/>
              </a:rPr>
              <a:t>ترتطم باللوحة</a:t>
            </a:r>
          </a:p>
          <a:p>
            <a:pPr algn="ctr" rtl="1">
              <a:lnSpc>
                <a:spcPct val="118000"/>
              </a:lnSpc>
            </a:pPr>
            <a:r>
              <a:rPr sz="1150" b="0">
                <a:solidFill>
                  <a:srgbClr val="4A5258"/>
                </a:solidFill>
                <a:latin typeface="Noto Sans"/>
                <a:cs typeface="Noto Sans Arabic"/>
              </a:rPr>
              <a:t>تصادم تحليلي مع المستوي</a:t>
            </a:r>
          </a:p>
        </p:txBody>
      </p:sp>
      <p:sp>
        <p:nvSpPr>
          <p:cNvPr id="24" name="Oval 23"/>
          <p:cNvSpPr/>
          <p:nvPr/>
        </p:nvSpPr>
        <p:spPr>
          <a:xfrm>
            <a:off x="1257300" y="1676400"/>
            <a:ext cx="342900" cy="34290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57300" y="1676400"/>
            <a:ext cx="3429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Noto Sans"/>
                <a:cs typeface="Noto Sans Arabic"/>
              </a:rP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" y="2171700"/>
            <a:ext cx="1714500" cy="1428750"/>
          </a:xfrm>
          <a:prstGeom prst="roundRect">
            <a:avLst>
              <a:gd name="adj" fmla="val 6666"/>
            </a:avLst>
          </a:prstGeom>
          <a:solidFill>
            <a:srgbClr val="F6F8F7"/>
          </a:solidFill>
          <a:ln w="19050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6750" y="2171700"/>
            <a:ext cx="15240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450" b="1">
                <a:solidFill>
                  <a:srgbClr val="1F3B63"/>
                </a:solidFill>
                <a:latin typeface="Noto Sans"/>
                <a:cs typeface="Noto Sans Arabic"/>
              </a:rPr>
              <a:t>تتراكم لوحةً</a:t>
            </a:r>
          </a:p>
          <a:p>
            <a:pPr algn="ctr" rtl="1">
              <a:lnSpc>
                <a:spcPct val="118000"/>
              </a:lnSpc>
            </a:pPr>
            <a:r>
              <a:rPr sz="1150" b="0">
                <a:solidFill>
                  <a:srgbClr val="4A5258"/>
                </a:solidFill>
                <a:latin typeface="Noto Sans"/>
                <a:cs typeface="Noto Sans Arabic"/>
              </a:rPr>
              <a:t>بصمة لونية فوق بصمة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" y="4305300"/>
            <a:ext cx="11049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600" b="1">
                <a:solidFill>
                  <a:srgbClr val="14181B"/>
                </a:solidFill>
                <a:latin typeface="Noto Sans"/>
                <a:cs typeface="Noto Sans Arabic"/>
              </a:rPr>
              <a:t>كل حلقة في السلسلة فيزياء كتبناها بأنفسنا — لا شيء جاهز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" y="4686300"/>
            <a:ext cx="11049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300" b="0">
                <a:solidFill>
                  <a:srgbClr val="6B7480"/>
                </a:solidFill>
                <a:latin typeface="Noto Sans"/>
                <a:cs typeface="Noto Sans Arabic"/>
              </a:rPr>
              <a:t>وستشاهدون السلسلة كاملة تعمل في العرض الحي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" y="65532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7480"/>
                </a:solidFill>
                <a:latin typeface="Noto Sans"/>
                <a:cs typeface="Noto Sans Arabic"/>
              </a:rPr>
              <a:t>3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68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61950"/>
            <a:ext cx="11049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1300" b="1">
                <a:solidFill>
                  <a:srgbClr val="C2410C"/>
                </a:solidFill>
                <a:latin typeface="Noto Sans"/>
                <a:cs typeface="Noto Sans Arabic"/>
              </a:rPr>
              <a:t>قلب المشروع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28650"/>
            <a:ext cx="11049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2700" b="1">
                <a:solidFill>
                  <a:srgbClr val="14181B"/>
                </a:solidFill>
                <a:latin typeface="Noto Sans"/>
                <a:cs typeface="Noto Sans Arabic"/>
              </a:rPr>
              <a:t>الطلاء مائعٌ حقيقي — لا خدعة بصرية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77000" y="1428750"/>
            <a:ext cx="514350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00" b="0">
                <a:solidFill>
                  <a:srgbClr val="14181B"/>
                </a:solidFill>
                <a:latin typeface="Noto Sans"/>
                <a:cs typeface="Noto Sans Arabic"/>
              </a:rPr>
              <a:t>كل قطرةٍ جسيمٌ في مائع SPH — الطريقة المستخدمة في مؤثرات الأفلام — بنيناها من الصفر.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77000" y="2400300"/>
            <a:ext cx="5143500" cy="438150"/>
          </a:xfrm>
          <a:prstGeom prst="roundRect">
            <a:avLst>
              <a:gd name="adj" fmla="val 21739"/>
            </a:avLst>
          </a:prstGeom>
          <a:solidFill>
            <a:srgbClr val="FFF3EA"/>
          </a:solidFill>
          <a:ln w="19050">
            <a:solidFill>
              <a:srgbClr val="F0C9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91300" y="2400300"/>
            <a:ext cx="49149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400" b="1">
                <a:solidFill>
                  <a:srgbClr val="14181B"/>
                </a:solidFill>
                <a:latin typeface="Noto Sans"/>
                <a:cs typeface="Noto Sans Arabic"/>
              </a:rPr>
              <a:t>الجسيم يشعر بجيرانه: الضغط يمنع التكدّس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7000" y="2933700"/>
            <a:ext cx="5143500" cy="438150"/>
          </a:xfrm>
          <a:prstGeom prst="roundRect">
            <a:avLst>
              <a:gd name="adj" fmla="val 21739"/>
            </a:avLst>
          </a:prstGeom>
          <a:solidFill>
            <a:srgbClr val="FFF3EA"/>
          </a:solidFill>
          <a:ln w="19050">
            <a:solidFill>
              <a:srgbClr val="F0C9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1300" y="2933700"/>
            <a:ext cx="49149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400" b="1">
                <a:solidFill>
                  <a:srgbClr val="14181B"/>
                </a:solidFill>
                <a:latin typeface="Noto Sans"/>
                <a:cs typeface="Noto Sans Arabic"/>
              </a:rPr>
              <a:t>اللزوجة احتكاكٌ داخلي: طلاءٌ سميك أو سائلٌ رشيق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77000" y="3467100"/>
            <a:ext cx="5143500" cy="438150"/>
          </a:xfrm>
          <a:prstGeom prst="roundRect">
            <a:avLst>
              <a:gd name="adj" fmla="val 21739"/>
            </a:avLst>
          </a:prstGeom>
          <a:solidFill>
            <a:srgbClr val="FFF3EA"/>
          </a:solidFill>
          <a:ln w="19050">
            <a:solidFill>
              <a:srgbClr val="F0C9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1300" y="3467100"/>
            <a:ext cx="49149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400" b="1">
                <a:solidFill>
                  <a:srgbClr val="14181B"/>
                </a:solidFill>
                <a:latin typeface="Noto Sans"/>
                <a:cs typeface="Noto Sans Arabic"/>
              </a:rPr>
              <a:t>الدلو يتحرك من تحته ← فيتموّج وينسكب طبيعيًا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4114800"/>
            <a:ext cx="514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1250" b="0">
                <a:solidFill>
                  <a:srgbClr val="4A5258"/>
                </a:solidFill>
                <a:latin typeface="Noto Sans"/>
                <a:cs typeface="Noto Sans Arabic"/>
              </a:rPr>
              <a:t>الاسم العلمي: SPH — الهيدروديناميكا الجسيمية الملسّاء (Müller 2003)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1571625"/>
            <a:ext cx="5334000" cy="314325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2190750" y="2190750"/>
            <a:ext cx="0" cy="1619250"/>
          </a:xfrm>
          <a:prstGeom prst="line">
            <a:avLst/>
          </a:prstGeom>
          <a:ln w="38100">
            <a:solidFill>
              <a:srgbClr val="4A5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86250" y="2190750"/>
            <a:ext cx="0" cy="1619250"/>
          </a:xfrm>
          <a:prstGeom prst="line">
            <a:avLst/>
          </a:prstGeom>
          <a:ln w="38100">
            <a:solidFill>
              <a:srgbClr val="4A5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190750" y="3810000"/>
            <a:ext cx="838200" cy="0"/>
          </a:xfrm>
          <a:prstGeom prst="line">
            <a:avLst/>
          </a:prstGeom>
          <a:ln w="38100">
            <a:solidFill>
              <a:srgbClr val="4A5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448050" y="3810000"/>
            <a:ext cx="838200" cy="0"/>
          </a:xfrm>
          <a:prstGeom prst="line">
            <a:avLst/>
          </a:prstGeom>
          <a:ln w="38100">
            <a:solidFill>
              <a:srgbClr val="4A52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362200" y="3543300"/>
            <a:ext cx="161925" cy="161925"/>
          </a:xfrm>
          <a:prstGeom prst="ellipse">
            <a:avLst/>
          </a:prstGeom>
          <a:solidFill>
            <a:srgbClr val="4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609850" y="3619500"/>
            <a:ext cx="161925" cy="161925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876550" y="3524250"/>
            <a:ext cx="161925" cy="161925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43250" y="3600450"/>
            <a:ext cx="161925" cy="161925"/>
          </a:xfrm>
          <a:prstGeom prst="ellipse">
            <a:avLst/>
          </a:prstGeom>
          <a:solidFill>
            <a:srgbClr val="4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09950" y="3543300"/>
            <a:ext cx="161925" cy="161925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676650" y="3619500"/>
            <a:ext cx="161925" cy="161925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943350" y="3533775"/>
            <a:ext cx="161925" cy="161925"/>
          </a:xfrm>
          <a:prstGeom prst="ellipse">
            <a:avLst/>
          </a:prstGeom>
          <a:solidFill>
            <a:srgbClr val="4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476500" y="3276600"/>
            <a:ext cx="161925" cy="161925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781300" y="3238500"/>
            <a:ext cx="161925" cy="161925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086100" y="3314700"/>
            <a:ext cx="161925" cy="161925"/>
          </a:xfrm>
          <a:prstGeom prst="ellipse">
            <a:avLst/>
          </a:prstGeom>
          <a:solidFill>
            <a:srgbClr val="4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390900" y="3257550"/>
            <a:ext cx="161925" cy="161925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14750" y="3295650"/>
            <a:ext cx="161925" cy="161925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628900" y="2990850"/>
            <a:ext cx="161925" cy="161925"/>
          </a:xfrm>
          <a:prstGeom prst="ellipse">
            <a:avLst/>
          </a:prstGeom>
          <a:solidFill>
            <a:srgbClr val="4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71800" y="2952750"/>
            <a:ext cx="161925" cy="161925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314700" y="3009900"/>
            <a:ext cx="161925" cy="161925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638550" y="2971800"/>
            <a:ext cx="161925" cy="161925"/>
          </a:xfrm>
          <a:prstGeom prst="ellipse">
            <a:avLst/>
          </a:prstGeom>
          <a:solidFill>
            <a:srgbClr val="4FA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857500" y="2724150"/>
            <a:ext cx="161925" cy="161925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238500" y="2705100"/>
            <a:ext cx="161925" cy="161925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162300" y="3981450"/>
            <a:ext cx="114300" cy="11430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200400" y="4248150"/>
            <a:ext cx="114300" cy="11430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143250" y="4495800"/>
            <a:ext cx="123825" cy="123825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43300" y="3943350"/>
            <a:ext cx="857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1100" b="0">
                <a:solidFill>
                  <a:srgbClr val="6B7480"/>
                </a:solidFill>
                <a:latin typeface="Noto Sans"/>
                <a:cs typeface="Noto Sans Arabic"/>
              </a:rPr>
              <a:t>الفتحة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" y="4781550"/>
            <a:ext cx="5334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100" b="0">
                <a:solidFill>
                  <a:srgbClr val="6B7480"/>
                </a:solidFill>
                <a:latin typeface="Noto Sans"/>
                <a:cs typeface="Noto Sans Arabic"/>
              </a:rPr>
              <a:t>جسيمات تتدافع وتنسكب من الفتحة — لا مقاطع جاهزة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65532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7480"/>
                </a:solidFill>
                <a:latin typeface="Noto Sans"/>
                <a:cs typeface="Noto Sans Arabic"/>
              </a:rPr>
              <a:t>4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4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61950"/>
            <a:ext cx="11049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1300" b="1">
                <a:solidFill>
                  <a:srgbClr val="1F3B63"/>
                </a:solidFill>
                <a:latin typeface="Noto Sans"/>
                <a:cs typeface="Noto Sans Arabic"/>
              </a:rPr>
              <a:t>الأداء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28650"/>
            <a:ext cx="11049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2700" b="1">
                <a:solidFill>
                  <a:srgbClr val="14181B"/>
                </a:solidFill>
                <a:latin typeface="Noto Sans"/>
                <a:cs typeface="Noto Sans Arabic"/>
              </a:rPr>
              <a:t>أسرع بأربع مرات ونصف — والبرهان على الشاشة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67675" y="1428750"/>
            <a:ext cx="3552825" cy="1066800"/>
          </a:xfrm>
          <a:prstGeom prst="roundRect">
            <a:avLst>
              <a:gd name="adj" fmla="val 8928"/>
            </a:avLst>
          </a:prstGeom>
          <a:solidFill>
            <a:srgbClr val="F6F8F7"/>
          </a:solidFill>
          <a:ln w="19050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81975" y="1428750"/>
            <a:ext cx="3324225" cy="1066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3000" b="1">
                <a:solidFill>
                  <a:srgbClr val="1F3B63"/>
                </a:solidFill>
                <a:latin typeface="Noto Sans"/>
                <a:cs typeface="Noto Sans Arabic"/>
              </a:rPr>
              <a:t>≈ 14 ms</a:t>
            </a:r>
          </a:p>
          <a:p>
            <a:pPr algn="ctr" rtl="1">
              <a:lnSpc>
                <a:spcPct val="118000"/>
              </a:lnSpc>
            </a:pPr>
            <a:r>
              <a:rPr sz="1250" b="0">
                <a:solidFill>
                  <a:srgbClr val="4A5258"/>
                </a:solidFill>
                <a:latin typeface="Noto Sans"/>
                <a:cs typeface="Noto Sans Arabic"/>
              </a:rPr>
              <a:t>الشبكة الذكية O(n) — عند 3000 جسيم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4825" y="1428750"/>
            <a:ext cx="3552825" cy="1066800"/>
          </a:xfrm>
          <a:prstGeom prst="roundRect">
            <a:avLst>
              <a:gd name="adj" fmla="val 8928"/>
            </a:avLst>
          </a:prstGeom>
          <a:solidFill>
            <a:srgbClr val="F6F8F7"/>
          </a:solidFill>
          <a:ln w="19050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29125" y="1428750"/>
            <a:ext cx="3324225" cy="1066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3000" b="1">
                <a:solidFill>
                  <a:srgbClr val="C2410C"/>
                </a:solidFill>
                <a:latin typeface="Noto Sans"/>
                <a:cs typeface="Noto Sans Arabic"/>
              </a:rPr>
              <a:t>≈ 65 ms</a:t>
            </a:r>
          </a:p>
          <a:p>
            <a:pPr algn="ctr" rtl="1">
              <a:lnSpc>
                <a:spcPct val="118000"/>
              </a:lnSpc>
            </a:pPr>
            <a:r>
              <a:rPr sz="1250" b="0">
                <a:solidFill>
                  <a:srgbClr val="4A5258"/>
                </a:solidFill>
                <a:latin typeface="Noto Sans"/>
                <a:cs typeface="Noto Sans Arabic"/>
              </a:rPr>
              <a:t>الطريقة الساذجة O(n²) — العمل نفسه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428750"/>
            <a:ext cx="3552825" cy="1066800"/>
          </a:xfrm>
          <a:prstGeom prst="roundRect">
            <a:avLst>
              <a:gd name="adj" fmla="val 8928"/>
            </a:avLst>
          </a:prstGeom>
          <a:solidFill>
            <a:srgbClr val="F6F8F7"/>
          </a:solidFill>
          <a:ln w="19050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28750"/>
            <a:ext cx="3324225" cy="1066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3000" b="1">
                <a:solidFill>
                  <a:srgbClr val="1F3B63"/>
                </a:solidFill>
                <a:latin typeface="Noto Sans"/>
                <a:cs typeface="Noto Sans Arabic"/>
              </a:rPr>
              <a:t>PASS</a:t>
            </a:r>
          </a:p>
          <a:p>
            <a:pPr algn="ctr" rtl="1">
              <a:lnSpc>
                <a:spcPct val="118000"/>
              </a:lnSpc>
            </a:pPr>
            <a:r>
              <a:rPr sz="1250" b="0">
                <a:solidFill>
                  <a:srgbClr val="4A5258"/>
                </a:solidFill>
                <a:latin typeface="Noto Sans"/>
                <a:cs typeface="Noto Sans Arabic"/>
              </a:rPr>
              <a:t>فحص التطابق: الفيزياء لم تتغيّر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2857500"/>
            <a:ext cx="533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1250" b="1">
                <a:solidFill>
                  <a:srgbClr val="1F3B63"/>
                </a:solidFill>
                <a:latin typeface="Noto Sans"/>
                <a:cs typeface="Noto Sans Arabic"/>
              </a:rPr>
              <a:t>الشبكة المكانية O(n)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01250" y="3124200"/>
            <a:ext cx="1619250" cy="209550"/>
          </a:xfrm>
          <a:prstGeom prst="roundRect">
            <a:avLst>
              <a:gd name="adj" fmla="val 27272"/>
            </a:avLst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6500" y="3448050"/>
            <a:ext cx="533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1250" b="1">
                <a:solidFill>
                  <a:srgbClr val="C2410C"/>
                </a:solidFill>
                <a:latin typeface="Noto Sans"/>
                <a:cs typeface="Noto Sans Arabic"/>
              </a:rPr>
              <a:t>القوة الغاشمة O(n²)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6250" y="3714750"/>
            <a:ext cx="7334250" cy="209550"/>
          </a:xfrm>
          <a:prstGeom prst="roundRect">
            <a:avLst>
              <a:gd name="adj" fmla="val 27272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" y="3143250"/>
            <a:ext cx="342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00" b="0">
                <a:solidFill>
                  <a:srgbClr val="6B7480"/>
                </a:solidFill>
                <a:latin typeface="Noto Sans"/>
                <a:cs typeface="Noto Sans Arabic"/>
              </a:rPr>
              <a:t>الزمن الحقيقي المقاس للبحث عن الجيران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4305300"/>
            <a:ext cx="11049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600" b="1">
                <a:solidFill>
                  <a:srgbClr val="1F3B63"/>
                </a:solidFill>
                <a:latin typeface="Noto Sans"/>
                <a:cs typeface="Noto Sans Arabic"/>
              </a:rPr>
              <a:t>زرٌّ واحد في الواجهة يبدّل بين الطريقتين — والميلي ثانية تُقاس أمامكم مباشرة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686300"/>
            <a:ext cx="11049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300" b="0">
                <a:solidFill>
                  <a:srgbClr val="6B7480"/>
                </a:solidFill>
                <a:latin typeface="Noto Sans"/>
                <a:cs typeface="Noto Sans Arabic"/>
              </a:rPr>
              <a:t>لماذا لا نطلب أسرع من O(n)؟ لأن كل جسيم يجب أن يتحدّث مرة كل خطوة — الخطّي هو الحد الأمثل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65532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7480"/>
                </a:solidFill>
                <a:latin typeface="Noto Sans"/>
                <a:cs typeface="Noto Sans Arabic"/>
              </a:rPr>
              <a:t>5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8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61950"/>
            <a:ext cx="11049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1300" b="1">
                <a:solidFill>
                  <a:srgbClr val="1F3B63"/>
                </a:solidFill>
                <a:latin typeface="Noto Sans"/>
                <a:cs typeface="Noto Sans Arabic"/>
              </a:rPr>
              <a:t>تحت الغطاء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28650"/>
            <a:ext cx="11049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2700" b="1">
                <a:solidFill>
                  <a:srgbClr val="14181B"/>
                </a:solidFill>
                <a:latin typeface="Noto Sans"/>
                <a:cs typeface="Noto Sans Arabic"/>
              </a:rPr>
              <a:t>أربعة مكوّنات — لكلٍّ مهمة واحدة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15400" y="2057400"/>
            <a:ext cx="2590800" cy="1409700"/>
          </a:xfrm>
          <a:prstGeom prst="roundRect">
            <a:avLst>
              <a:gd name="adj" fmla="val 6756"/>
            </a:avLst>
          </a:prstGeom>
          <a:solidFill>
            <a:srgbClr val="F6F8F7"/>
          </a:solidFill>
          <a:ln w="19050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0650" y="2057400"/>
            <a:ext cx="2400300" cy="140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1F3B63"/>
                </a:solidFill>
                <a:latin typeface="Noto Sans"/>
                <a:cs typeface="Noto Sans Arabic"/>
              </a:rPr>
              <a:t>Bucket</a:t>
            </a:r>
          </a:p>
          <a:p>
            <a:pPr algn="ctr" rtl="1">
              <a:lnSpc>
                <a:spcPct val="118000"/>
              </a:lnSpc>
            </a:pPr>
            <a:r>
              <a:rPr sz="1250" b="0">
                <a:solidFill>
                  <a:srgbClr val="4A5258"/>
                </a:solidFill>
                <a:latin typeface="Noto Sans"/>
                <a:cs typeface="Noto Sans Arabic"/>
              </a:rPr>
              <a:t>يحسب التأرجح من معادلة النواس — رياضيات صرفة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057400"/>
            <a:ext cx="2590800" cy="1409700"/>
          </a:xfrm>
          <a:prstGeom prst="roundRect">
            <a:avLst>
              <a:gd name="adj" fmla="val 6756"/>
            </a:avLst>
          </a:prstGeom>
          <a:solidFill>
            <a:srgbClr val="F6F8F7"/>
          </a:solidFill>
          <a:ln w="19050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7450" y="2057400"/>
            <a:ext cx="2400300" cy="140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1F3B63"/>
                </a:solidFill>
                <a:latin typeface="Noto Sans"/>
                <a:cs typeface="Noto Sans Arabic"/>
              </a:rPr>
              <a:t>SphFluid</a:t>
            </a:r>
          </a:p>
          <a:p>
            <a:pPr algn="ctr" rtl="1">
              <a:lnSpc>
                <a:spcPct val="118000"/>
              </a:lnSpc>
            </a:pPr>
            <a:r>
              <a:rPr sz="1250" b="0">
                <a:solidFill>
                  <a:srgbClr val="4A5258"/>
                </a:solidFill>
                <a:latin typeface="Noto Sans"/>
                <a:cs typeface="Noto Sans Arabic"/>
              </a:rPr>
              <a:t>يحاكي آلاف جسيمات الطلاء: ضغط ولزوجة وتموّج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057400"/>
            <a:ext cx="2590800" cy="1409700"/>
          </a:xfrm>
          <a:prstGeom prst="roundRect">
            <a:avLst>
              <a:gd name="adj" fmla="val 6756"/>
            </a:avLst>
          </a:prstGeom>
          <a:solidFill>
            <a:srgbClr val="F6F8F7"/>
          </a:solidFill>
          <a:ln w="19050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4250" y="2057400"/>
            <a:ext cx="2400300" cy="140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1F3B63"/>
                </a:solidFill>
                <a:latin typeface="Noto Sans"/>
                <a:cs typeface="Noto Sans Arabic"/>
              </a:rPr>
              <a:t>PaintCanvas</a:t>
            </a:r>
          </a:p>
          <a:p>
            <a:pPr algn="ctr" rtl="1">
              <a:lnSpc>
                <a:spcPct val="118000"/>
              </a:lnSpc>
            </a:pPr>
            <a:r>
              <a:rPr sz="1250" b="0">
                <a:solidFill>
                  <a:srgbClr val="4A5258"/>
                </a:solidFill>
                <a:latin typeface="Noto Sans"/>
                <a:cs typeface="Noto Sans Arabic"/>
              </a:rPr>
              <a:t>يستقبل القطرات ويرسم اللوحة ويحفظها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57400"/>
            <a:ext cx="2590800" cy="1409700"/>
          </a:xfrm>
          <a:prstGeom prst="roundRect">
            <a:avLst>
              <a:gd name="adj" fmla="val 6756"/>
            </a:avLst>
          </a:prstGeom>
          <a:solidFill>
            <a:srgbClr val="F6F8F7"/>
          </a:solidFill>
          <a:ln w="19050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050" y="2057400"/>
            <a:ext cx="2400300" cy="140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1F3B63"/>
                </a:solidFill>
                <a:latin typeface="Noto Sans"/>
                <a:cs typeface="Noto Sans Arabic"/>
              </a:rPr>
              <a:t>UIControlPanel</a:t>
            </a:r>
          </a:p>
          <a:p>
            <a:pPr algn="ctr" rtl="1">
              <a:lnSpc>
                <a:spcPct val="118000"/>
              </a:lnSpc>
            </a:pPr>
            <a:r>
              <a:rPr sz="1250" b="0">
                <a:solidFill>
                  <a:srgbClr val="4A5258"/>
                </a:solidFill>
                <a:latin typeface="Noto Sans"/>
                <a:cs typeface="Noto Sans Arabic"/>
              </a:rPr>
              <a:t>يربط كل منزلقٍ بالفيزياء — حيًّا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076700"/>
            <a:ext cx="1104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500" b="0">
                <a:solidFill>
                  <a:srgbClr val="14181B"/>
                </a:solidFill>
                <a:latin typeface="Noto Sans"/>
                <a:cs typeface="Noto Sans Arabic"/>
              </a:rPr>
              <a:t>فصلٌ تام بين المسؤوليات: كل مكوّن يُفحَص ويُشرَح وحده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457700"/>
            <a:ext cx="11049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500" b="1">
                <a:solidFill>
                  <a:srgbClr val="14181B"/>
                </a:solidFill>
                <a:latin typeface="Noto Sans"/>
                <a:cs typeface="Noto Sans Arabic"/>
              </a:rPr>
              <a:t>القيد الأساسي محترمٌ بالكامل: لا RigidBody · لا Collider · لا مكتبات جاهزة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838700"/>
            <a:ext cx="11049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300" b="0">
                <a:solidFill>
                  <a:srgbClr val="6B7480"/>
                </a:solidFill>
                <a:latin typeface="Noto Sans"/>
                <a:cs typeface="Noto Sans Arabic"/>
              </a:rPr>
              <a:t>حتى الحدود مصادمة تحليلية: أسطوانة للدلو ومستوٍ للّوحة — بالمعادلات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65532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7480"/>
                </a:solidFill>
                <a:latin typeface="Noto Sans"/>
                <a:cs typeface="Noto Sans Arabic"/>
              </a:rPr>
              <a:t>6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6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61950"/>
            <a:ext cx="11049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1300" b="1">
                <a:solidFill>
                  <a:srgbClr val="1F3B63"/>
                </a:solidFill>
                <a:latin typeface="Noto Sans"/>
                <a:cs typeface="Noto Sans Arabic"/>
              </a:rPr>
              <a:t>التحكم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28650"/>
            <a:ext cx="11049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2700" b="1">
                <a:solidFill>
                  <a:srgbClr val="14181B"/>
                </a:solidFill>
                <a:latin typeface="Noto Sans"/>
                <a:cs typeface="Noto Sans Arabic"/>
              </a:rPr>
              <a:t>غيّر الفيزياء… تتغيّر اللوحة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34450" y="1857375"/>
            <a:ext cx="2495550" cy="952500"/>
          </a:xfrm>
          <a:prstGeom prst="roundRect">
            <a:avLst>
              <a:gd name="adj" fmla="val 10000"/>
            </a:avLst>
          </a:prstGeom>
          <a:solidFill>
            <a:srgbClr val="F6F8F7"/>
          </a:solidFill>
          <a:ln w="19050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29700" y="1857375"/>
            <a:ext cx="230505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500" b="1">
                <a:solidFill>
                  <a:srgbClr val="14181B"/>
                </a:solidFill>
                <a:latin typeface="Noto Sans"/>
                <a:cs typeface="Noto Sans Arabic"/>
              </a:rPr>
              <a:t>الدلو والطلاء</a:t>
            </a:r>
          </a:p>
          <a:p>
            <a:pPr algn="ctr" rtl="1">
              <a:lnSpc>
                <a:spcPct val="118000"/>
              </a:lnSpc>
            </a:pPr>
            <a:r>
              <a:rPr sz="1150" b="0">
                <a:solidFill>
                  <a:srgbClr val="4A5258"/>
                </a:solidFill>
                <a:latin typeface="Noto Sans"/>
                <a:cs typeface="Noto Sans Arabic"/>
              </a:rPr>
              <a:t>الكمية · قطر الفتحة · اللون · اللزوجة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86500" y="1857375"/>
            <a:ext cx="2495550" cy="952500"/>
          </a:xfrm>
          <a:prstGeom prst="roundRect">
            <a:avLst>
              <a:gd name="adj" fmla="val 10000"/>
            </a:avLst>
          </a:prstGeom>
          <a:solidFill>
            <a:srgbClr val="F6F8F7"/>
          </a:solidFill>
          <a:ln w="19050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81750" y="1857375"/>
            <a:ext cx="230505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500" b="1">
                <a:solidFill>
                  <a:srgbClr val="14181B"/>
                </a:solidFill>
                <a:latin typeface="Noto Sans"/>
                <a:cs typeface="Noto Sans Arabic"/>
              </a:rPr>
              <a:t>الحركة</a:t>
            </a:r>
          </a:p>
          <a:p>
            <a:pPr algn="ctr" rtl="1">
              <a:lnSpc>
                <a:spcPct val="118000"/>
              </a:lnSpc>
            </a:pPr>
            <a:r>
              <a:rPr sz="1150" b="0">
                <a:solidFill>
                  <a:srgbClr val="4A5258"/>
                </a:solidFill>
                <a:latin typeface="Noto Sans"/>
                <a:cs typeface="Noto Sans Arabic"/>
              </a:rPr>
              <a:t>زاوية البداية · السرعة · عدد التأرجحات · طول الحبل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34450" y="2962275"/>
            <a:ext cx="2495550" cy="952500"/>
          </a:xfrm>
          <a:prstGeom prst="roundRect">
            <a:avLst>
              <a:gd name="adj" fmla="val 10000"/>
            </a:avLst>
          </a:prstGeom>
          <a:solidFill>
            <a:srgbClr val="F6F8F7"/>
          </a:solidFill>
          <a:ln w="19050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29700" y="2962275"/>
            <a:ext cx="230505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500" b="1">
                <a:solidFill>
                  <a:srgbClr val="14181B"/>
                </a:solidFill>
                <a:latin typeface="Noto Sans"/>
                <a:cs typeface="Noto Sans Arabic"/>
              </a:rPr>
              <a:t>البيئة</a:t>
            </a:r>
          </a:p>
          <a:p>
            <a:pPr algn="ctr" rtl="1">
              <a:lnSpc>
                <a:spcPct val="118000"/>
              </a:lnSpc>
            </a:pPr>
            <a:r>
              <a:rPr sz="1150" b="0">
                <a:solidFill>
                  <a:srgbClr val="4A5258"/>
                </a:solidFill>
                <a:latin typeface="Noto Sans"/>
                <a:cs typeface="Noto Sans Arabic"/>
              </a:rPr>
              <a:t>الجاذبية · مقاومة الهواء · الرطوبة · الاحتكاك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6500" y="2962275"/>
            <a:ext cx="2495550" cy="952500"/>
          </a:xfrm>
          <a:prstGeom prst="roundRect">
            <a:avLst>
              <a:gd name="adj" fmla="val 10000"/>
            </a:avLst>
          </a:prstGeom>
          <a:solidFill>
            <a:srgbClr val="F6F8F7"/>
          </a:solidFill>
          <a:ln w="19050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1750" y="2962275"/>
            <a:ext cx="230505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500" b="1">
                <a:solidFill>
                  <a:srgbClr val="14181B"/>
                </a:solidFill>
                <a:latin typeface="Noto Sans"/>
                <a:cs typeface="Noto Sans Arabic"/>
              </a:rPr>
              <a:t>اللوحة</a:t>
            </a:r>
          </a:p>
          <a:p>
            <a:pPr algn="ctr" rtl="1">
              <a:lnSpc>
                <a:spcPct val="118000"/>
              </a:lnSpc>
            </a:pPr>
            <a:r>
              <a:rPr sz="1150" b="0">
                <a:solidFill>
                  <a:srgbClr val="4A5258"/>
                </a:solidFill>
                <a:latin typeface="Noto Sans"/>
                <a:cs typeface="Noto Sans Arabic"/>
              </a:rPr>
              <a:t>الأبعاد · الميلان حتى 60° · قماش / خشب / معدن / ورق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0" y="4238625"/>
            <a:ext cx="5143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1300" b="0">
                <a:solidFill>
                  <a:srgbClr val="4A5258"/>
                </a:solidFill>
                <a:latin typeface="Noto Sans"/>
                <a:cs typeface="Noto Sans Arabic"/>
              </a:rPr>
              <a:t>كل مدخلٍ في ملف المشروع… منزلقٌ حيٌّ أمامكم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" y="1619250"/>
            <a:ext cx="5238750" cy="314325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5300" y="2105025"/>
            <a:ext cx="1238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1150" b="0">
                <a:solidFill>
                  <a:srgbClr val="4A5258"/>
                </a:solidFill>
                <a:latin typeface="Noto Sans"/>
                <a:cs typeface="Noto Sans Arabic"/>
              </a:rPr>
              <a:t>الجاذبية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66800" y="2209800"/>
            <a:ext cx="3086100" cy="0"/>
          </a:xfrm>
          <a:prstGeom prst="line">
            <a:avLst/>
          </a:prstGeom>
          <a:ln w="50800">
            <a:solidFill>
              <a:srgbClr val="E2E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143250" y="2133600"/>
            <a:ext cx="152400" cy="15240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5300" y="2619375"/>
            <a:ext cx="1238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1150" b="0">
                <a:solidFill>
                  <a:srgbClr val="4A5258"/>
                </a:solidFill>
                <a:latin typeface="Noto Sans"/>
                <a:cs typeface="Noto Sans Arabic"/>
              </a:rPr>
              <a:t>اللزوجة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66800" y="2724150"/>
            <a:ext cx="3086100" cy="0"/>
          </a:xfrm>
          <a:prstGeom prst="line">
            <a:avLst/>
          </a:prstGeom>
          <a:ln w="50800">
            <a:solidFill>
              <a:srgbClr val="E2E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000250" y="2647950"/>
            <a:ext cx="152400" cy="15240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05300" y="3133725"/>
            <a:ext cx="1238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1150" b="0">
                <a:solidFill>
                  <a:srgbClr val="4A5258"/>
                </a:solidFill>
                <a:latin typeface="Noto Sans"/>
                <a:cs typeface="Noto Sans Arabic"/>
              </a:rPr>
              <a:t>الرطوبة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66800" y="3238500"/>
            <a:ext cx="3086100" cy="0"/>
          </a:xfrm>
          <a:prstGeom prst="line">
            <a:avLst/>
          </a:prstGeom>
          <a:ln w="50800">
            <a:solidFill>
              <a:srgbClr val="E2E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3714750" y="3162300"/>
            <a:ext cx="152400" cy="15240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5300" y="3648075"/>
            <a:ext cx="1238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1150" b="0">
                <a:solidFill>
                  <a:srgbClr val="4A5258"/>
                </a:solidFill>
                <a:latin typeface="Noto Sans"/>
                <a:cs typeface="Noto Sans Arabic"/>
              </a:rPr>
              <a:t>طول الحبل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66800" y="3752850"/>
            <a:ext cx="3086100" cy="0"/>
          </a:xfrm>
          <a:prstGeom prst="line">
            <a:avLst/>
          </a:prstGeom>
          <a:ln w="50800">
            <a:solidFill>
              <a:srgbClr val="E2E5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2495550" y="3676650"/>
            <a:ext cx="152400" cy="152400"/>
          </a:xfrm>
          <a:prstGeom prst="ellipse">
            <a:avLst/>
          </a:prstGeom>
          <a:solidFill>
            <a:srgbClr val="1F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05300" y="4162425"/>
            <a:ext cx="12382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1150" b="0">
                <a:solidFill>
                  <a:srgbClr val="4A5258"/>
                </a:solidFill>
                <a:latin typeface="Noto Sans"/>
                <a:cs typeface="Noto Sans Arabic"/>
              </a:rPr>
              <a:t>اللون</a:t>
            </a:r>
          </a:p>
        </p:txBody>
      </p:sp>
      <p:sp>
        <p:nvSpPr>
          <p:cNvPr id="27" name="Oval 26"/>
          <p:cNvSpPr/>
          <p:nvPr/>
        </p:nvSpPr>
        <p:spPr>
          <a:xfrm>
            <a:off x="1524000" y="4095750"/>
            <a:ext cx="228600" cy="22860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62150" y="4095750"/>
            <a:ext cx="228600" cy="22860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400300" y="4095750"/>
            <a:ext cx="228600" cy="228600"/>
          </a:xfrm>
          <a:prstGeom prst="ellipse">
            <a:avLst/>
          </a:prstGeom>
          <a:solidFill>
            <a:srgbClr val="F6C4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838450" y="4095750"/>
            <a:ext cx="228600" cy="228600"/>
          </a:xfrm>
          <a:prstGeom prst="ellipse">
            <a:avLst/>
          </a:prstGeom>
          <a:solidFill>
            <a:srgbClr val="7B4B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1500" y="4838700"/>
            <a:ext cx="52387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100" b="0">
                <a:solidFill>
                  <a:srgbClr val="6B7480"/>
                </a:solidFill>
                <a:latin typeface="Noto Sans"/>
                <a:cs typeface="Noto Sans Arabic"/>
              </a:rPr>
              <a:t>لوحة التحكم الحقيقية: أكثر من عشرين منزلقًا وزرًّا حيًّا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" y="65532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7480"/>
                </a:solidFill>
                <a:latin typeface="Noto Sans"/>
                <a:cs typeface="Noto Sans Arabic"/>
              </a:rPr>
              <a:t>7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0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61950"/>
            <a:ext cx="11049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1300" b="1">
                <a:solidFill>
                  <a:srgbClr val="1F3B63"/>
                </a:solidFill>
                <a:latin typeface="Noto Sans"/>
                <a:cs typeface="Noto Sans Arabic"/>
              </a:rPr>
              <a:t>المخرجات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28650"/>
            <a:ext cx="11049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2700" b="1">
                <a:solidFill>
                  <a:srgbClr val="14181B"/>
                </a:solidFill>
                <a:latin typeface="Noto Sans"/>
                <a:cs typeface="Noto Sans Arabic"/>
              </a:rPr>
              <a:t>كل تجربة توثّق نفسها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67675" y="1571625"/>
            <a:ext cx="3552825" cy="1428750"/>
          </a:xfrm>
          <a:prstGeom prst="roundRect">
            <a:avLst>
              <a:gd name="adj" fmla="val 6666"/>
            </a:avLst>
          </a:prstGeom>
          <a:solidFill>
            <a:srgbClr val="F6F8F7"/>
          </a:solidFill>
          <a:ln w="19050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62925" y="1571625"/>
            <a:ext cx="33623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700" b="1">
                <a:solidFill>
                  <a:srgbClr val="1F3B63"/>
                </a:solidFill>
                <a:latin typeface="Noto Sans"/>
                <a:cs typeface="Noto Sans Arabic"/>
              </a:rPr>
              <a:t>صورة PNG</a:t>
            </a:r>
          </a:p>
          <a:p>
            <a:pPr algn="ctr" rtl="1">
              <a:lnSpc>
                <a:spcPct val="118000"/>
              </a:lnSpc>
            </a:pPr>
            <a:r>
              <a:rPr sz="1250" b="0">
                <a:solidFill>
                  <a:srgbClr val="4A5258"/>
                </a:solidFill>
                <a:latin typeface="Noto Sans"/>
                <a:cs typeface="Noto Sans Arabic"/>
              </a:rPr>
              <a:t>اللوحة النهائية تُحفَظ إلى ملف بنقرة واحدة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4825" y="1571625"/>
            <a:ext cx="3552825" cy="1428750"/>
          </a:xfrm>
          <a:prstGeom prst="roundRect">
            <a:avLst>
              <a:gd name="adj" fmla="val 6666"/>
            </a:avLst>
          </a:prstGeom>
          <a:solidFill>
            <a:srgbClr val="F6F8F7"/>
          </a:solidFill>
          <a:ln w="19050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10075" y="1571625"/>
            <a:ext cx="33623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700" b="1">
                <a:solidFill>
                  <a:srgbClr val="1F3B63"/>
                </a:solidFill>
                <a:latin typeface="Noto Sans"/>
                <a:cs typeface="Noto Sans Arabic"/>
              </a:rPr>
              <a:t>تقرير نصي</a:t>
            </a:r>
          </a:p>
          <a:p>
            <a:pPr algn="ctr" rtl="1">
              <a:lnSpc>
                <a:spcPct val="118000"/>
              </a:lnSpc>
            </a:pPr>
            <a:r>
              <a:rPr sz="1250" b="0">
                <a:solidFill>
                  <a:srgbClr val="4A5258"/>
                </a:solidFill>
                <a:latin typeface="Noto Sans"/>
                <a:cs typeface="Noto Sans Arabic"/>
              </a:rPr>
              <a:t>كل المدخلات + زمن الحركة + عدد الآثار + مساحة الانتشار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571625"/>
            <a:ext cx="3552825" cy="1428750"/>
          </a:xfrm>
          <a:prstGeom prst="roundRect">
            <a:avLst>
              <a:gd name="adj" fmla="val 6666"/>
            </a:avLst>
          </a:prstGeom>
          <a:solidFill>
            <a:srgbClr val="F6F8F7"/>
          </a:solidFill>
          <a:ln w="19050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750" y="1571625"/>
            <a:ext cx="33623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700" b="1">
                <a:solidFill>
                  <a:srgbClr val="1F3B63"/>
                </a:solidFill>
                <a:latin typeface="Noto Sans"/>
                <a:cs typeface="Noto Sans Arabic"/>
              </a:rPr>
              <a:t>مقارنة حية</a:t>
            </a:r>
          </a:p>
          <a:p>
            <a:pPr algn="ctr" rtl="1">
              <a:lnSpc>
                <a:spcPct val="118000"/>
              </a:lnSpc>
            </a:pPr>
            <a:r>
              <a:rPr sz="1250" b="0">
                <a:solidFill>
                  <a:srgbClr val="4A5258"/>
                </a:solidFill>
                <a:latin typeface="Noto Sans"/>
                <a:cs typeface="Noto Sans Arabic"/>
              </a:rPr>
              <a:t>التجربة السابقة مقابل الحالية — جنبًا إلى جنب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3619500"/>
            <a:ext cx="11049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500" b="0">
                <a:solidFill>
                  <a:srgbClr val="14181B"/>
                </a:solidFill>
                <a:latin typeface="Noto Sans"/>
                <a:cs typeface="Noto Sans Arabic"/>
              </a:rPr>
              <a:t>وعلى الشاشة دائمًا: قيم التجربة الجارية لحظةً بلحظة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095750"/>
            <a:ext cx="11049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700" b="1">
                <a:solidFill>
                  <a:srgbClr val="1F3B63"/>
                </a:solidFill>
                <a:latin typeface="Noto Sans"/>
                <a:cs typeface="Noto Sans Arabic"/>
              </a:rPr>
              <a:t>المخرجات السبعة المطلوبة في ملف المشروع — منفّذة كلها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495800"/>
            <a:ext cx="11049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300" b="0">
                <a:solidFill>
                  <a:srgbClr val="6B7480"/>
                </a:solidFill>
                <a:latin typeface="Noto Sans"/>
                <a:cs typeface="Noto Sans Arabic"/>
              </a:rPr>
              <a:t>عرض ثلاثي الأبعاد · رسم حي · لوحة نهائية · حفظ · قيم · مقارنة · تقرير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65532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7480"/>
                </a:solidFill>
                <a:latin typeface="Noto Sans"/>
                <a:cs typeface="Noto Sans Arabic"/>
              </a:rPr>
              <a:t>8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30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A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7250" y="1790700"/>
            <a:ext cx="1047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400" b="1">
                <a:solidFill>
                  <a:srgbClr val="9FB6D6"/>
                </a:solidFill>
                <a:latin typeface="Noto Sans"/>
                <a:cs typeface="Noto Sans Arabic"/>
              </a:rPr>
              <a:t>العرض الحي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250" y="2362200"/>
            <a:ext cx="10477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4400" b="1">
                <a:solidFill>
                  <a:srgbClr val="FFFFFF"/>
                </a:solidFill>
                <a:latin typeface="Noto Sans"/>
                <a:cs typeface="Noto Sans Arabic"/>
              </a:rPr>
              <a:t>لنشاهد الدلو يرسم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3505200"/>
            <a:ext cx="10477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600" b="0">
                <a:solidFill>
                  <a:srgbClr val="DDE7F5"/>
                </a:solidFill>
                <a:latin typeface="Noto Sans"/>
                <a:cs typeface="Noto Sans Arabic"/>
              </a:rPr>
              <a:t>لوحة بعدة ألوان  ·  رطوبة أعلى فبقعٌ أوسع  ·  برهان O(n) أمامكم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7250" y="5334000"/>
            <a:ext cx="2857500" cy="438150"/>
          </a:xfrm>
          <a:prstGeom prst="roundRect">
            <a:avLst>
              <a:gd name="adj" fmla="val 21739"/>
            </a:avLst>
          </a:prstGeom>
          <a:noFill/>
          <a:ln w="19050">
            <a:solidFill>
              <a:srgbClr val="9FB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7250" y="5334000"/>
            <a:ext cx="28575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Noto Sans"/>
                <a:cs typeface="Noto Sans Arabic"/>
              </a:rPr>
              <a:t>Unity · SampleScene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65532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9FB6D6"/>
                </a:solidFill>
                <a:latin typeface="Noto Sans"/>
                <a:cs typeface="Noto Sans Arabic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61950"/>
            <a:ext cx="11049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1300" b="1">
                <a:solidFill>
                  <a:srgbClr val="1F3B63"/>
                </a:solidFill>
                <a:latin typeface="Noto Sans"/>
                <a:cs typeface="Noto Sans Arabic"/>
              </a:rPr>
              <a:t>خيارات نمذجة صادقة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628650"/>
            <a:ext cx="11049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2700" b="1">
                <a:solidFill>
                  <a:srgbClr val="14181B"/>
                </a:solidFill>
                <a:latin typeface="Noto Sans"/>
                <a:cs typeface="Noto Sans Arabic"/>
              </a:rPr>
              <a:t>بسيطٌ وصحيح خيرٌ من معقّدٍ خاطئ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86500" y="1619250"/>
            <a:ext cx="5334000" cy="1143000"/>
          </a:xfrm>
          <a:prstGeom prst="roundRect">
            <a:avLst>
              <a:gd name="adj" fmla="val 8333"/>
            </a:avLst>
          </a:prstGeom>
          <a:solidFill>
            <a:srgbClr val="F6F8F7"/>
          </a:solidFill>
          <a:ln w="19050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1714500"/>
            <a:ext cx="510540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1450" b="1">
                <a:solidFill>
                  <a:srgbClr val="1F3B63"/>
                </a:solidFill>
                <a:latin typeface="Noto Sans"/>
                <a:cs typeface="Noto Sans Arabic"/>
              </a:rPr>
              <a:t>وزن الدلو</a:t>
            </a:r>
          </a:p>
          <a:p>
            <a:pPr algn="r" rtl="1">
              <a:lnSpc>
                <a:spcPct val="130000"/>
              </a:lnSpc>
            </a:pPr>
            <a:r>
              <a:rPr sz="1300" b="0">
                <a:solidFill>
                  <a:srgbClr val="4A5258"/>
                </a:solidFill>
                <a:latin typeface="Noto Sans"/>
                <a:cs typeface="Noto Sans Arabic"/>
              </a:rPr>
              <a:t>دور النواس البسيط مستقلٌّ عن الكتلة — فلا منزلق وزنٍ زائف. فيزياء، لا نسيان.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86500" y="2914650"/>
            <a:ext cx="5334000" cy="1143000"/>
          </a:xfrm>
          <a:prstGeom prst="roundRect">
            <a:avLst>
              <a:gd name="adj" fmla="val 8333"/>
            </a:avLst>
          </a:prstGeom>
          <a:solidFill>
            <a:srgbClr val="F6F8F7"/>
          </a:solidFill>
          <a:ln w="19050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3009900"/>
            <a:ext cx="510540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8000"/>
              </a:lnSpc>
            </a:pPr>
            <a:r>
              <a:rPr sz="1450" b="1">
                <a:solidFill>
                  <a:srgbClr val="1F3B63"/>
                </a:solidFill>
                <a:latin typeface="Noto Sans"/>
                <a:cs typeface="Noto Sans Arabic"/>
              </a:rPr>
              <a:t>الحبل</a:t>
            </a:r>
          </a:p>
          <a:p>
            <a:pPr algn="r" rtl="1">
              <a:lnSpc>
                <a:spcPct val="130000"/>
              </a:lnSpc>
            </a:pPr>
            <a:r>
              <a:rPr sz="1300" b="0">
                <a:solidFill>
                  <a:srgbClr val="4A5258"/>
                </a:solidFill>
                <a:latin typeface="Noto Sans"/>
                <a:cs typeface="Noto Sans Arabic"/>
              </a:rPr>
              <a:t>قضيبٌ صلب اليوم — والحبل المرن موثَّق كعمل مستقبلي، لا مُدَّعى.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619250"/>
            <a:ext cx="5334000" cy="2438400"/>
          </a:xfrm>
          <a:prstGeom prst="roundRect">
            <a:avLst>
              <a:gd name="adj" fmla="val 3906"/>
            </a:avLst>
          </a:prstGeom>
          <a:solidFill>
            <a:srgbClr val="EDF2F9"/>
          </a:solidFill>
          <a:ln w="19050">
            <a:solidFill>
              <a:srgbClr val="C6D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" y="1809750"/>
            <a:ext cx="4876800" cy="209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2000" b="1">
                <a:solidFill>
                  <a:srgbClr val="1F3B63"/>
                </a:solidFill>
                <a:latin typeface="Noto Sans"/>
                <a:cs typeface="Noto Sans Arabic"/>
              </a:rPr>
              <a:t>«كل تبسيطٍ مدوَّنٌ كتابةً</a:t>
            </a:r>
          </a:p>
          <a:p>
            <a:pPr algn="ctr" rtl="1">
              <a:lnSpc>
                <a:spcPct val="140000"/>
              </a:lnSpc>
            </a:pPr>
            <a:r>
              <a:rPr sz="2000" b="1">
                <a:solidFill>
                  <a:srgbClr val="1F3B63"/>
                </a:solidFill>
                <a:latin typeface="Noto Sans"/>
                <a:cs typeface="Noto Sans Arabic"/>
              </a:rPr>
              <a:t>ومبرَّرٌ فيزيائيًا.»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476750"/>
            <a:ext cx="11049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300" b="0">
                <a:solidFill>
                  <a:srgbClr val="6B7480"/>
                </a:solidFill>
                <a:latin typeface="Noto Sans"/>
                <a:cs typeface="Noto Sans Arabic"/>
              </a:rPr>
              <a:t>القادم: عدة دلاء ترسم معًا · لعبة تعليمية · تصدير فيديو · لوحات بالذكاء الاصطناعي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65532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7480"/>
                </a:solidFill>
                <a:latin typeface="Noto Sans"/>
                <a:cs typeface="Noto Sans Arabic"/>
              </a:rPr>
              <a:t>10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4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7250" y="1952625"/>
            <a:ext cx="10477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300" b="1">
                <a:solidFill>
                  <a:srgbClr val="1F3B63"/>
                </a:solidFill>
                <a:latin typeface="Noto Sans"/>
                <a:cs typeface="Noto Sans Arabic"/>
              </a:rPr>
              <a:t>الخلاصة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28750" y="2428875"/>
            <a:ext cx="9334500" cy="161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2500" b="1">
                <a:solidFill>
                  <a:srgbClr val="1F3B63"/>
                </a:solidFill>
                <a:latin typeface="Noto Sans"/>
                <a:cs typeface="Noto Sans Arabic"/>
              </a:rPr>
              <a:t>«لا شيء في المشهد مزيّف: من تأرجح الحبل إلى آخر قطرةٍ على اللوحة، كلُّ سلوكٍ ينبع من معادلةٍ كتبناها بأيدينا.»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9750" y="4238625"/>
            <a:ext cx="8572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300" b="0">
                <a:solidFill>
                  <a:srgbClr val="4A5258"/>
                </a:solidFill>
                <a:latin typeface="Noto Sans"/>
                <a:cs typeface="Noto Sans Arabic"/>
              </a:rPr>
              <a:t>التفاصيل والقيود موثّقة بصدقٍ في التقرير النهائي.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5532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7480"/>
                </a:solidFill>
                <a:latin typeface="Noto Sans"/>
                <a:cs typeface="Noto Sans Arabic"/>
              </a:rPr>
              <a:t>11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10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7250" y="1123950"/>
            <a:ext cx="10477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3000" b="1">
                <a:solidFill>
                  <a:srgbClr val="14181B"/>
                </a:solidFill>
                <a:latin typeface="Noto Sans"/>
                <a:cs typeface="Noto Sans Arabic"/>
              </a:rPr>
              <a:t>شكرًا لكم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01000" y="2152650"/>
            <a:ext cx="3352800" cy="609600"/>
          </a:xfrm>
          <a:prstGeom prst="roundRect">
            <a:avLst>
              <a:gd name="adj" fmla="val 15625"/>
            </a:avLst>
          </a:prstGeom>
          <a:solidFill>
            <a:srgbClr val="F6F8F7"/>
          </a:solidFill>
          <a:ln w="19050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1000" y="2152650"/>
            <a:ext cx="33528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450" b="1">
                <a:solidFill>
                  <a:srgbClr val="14181B"/>
                </a:solidFill>
                <a:latin typeface="Noto Sans"/>
                <a:cs typeface="Noto Sans Arabic"/>
              </a:rPr>
              <a:t>محمد مروان العيشات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9600" y="2152650"/>
            <a:ext cx="3352800" cy="609600"/>
          </a:xfrm>
          <a:prstGeom prst="roundRect">
            <a:avLst>
              <a:gd name="adj" fmla="val 15625"/>
            </a:avLst>
          </a:prstGeom>
          <a:solidFill>
            <a:srgbClr val="F6F8F7"/>
          </a:solidFill>
          <a:ln w="19050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19600" y="2152650"/>
            <a:ext cx="33528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450" b="1">
                <a:solidFill>
                  <a:srgbClr val="14181B"/>
                </a:solidFill>
                <a:latin typeface="Noto Sans"/>
                <a:cs typeface="Noto Sans Arabic"/>
              </a:rPr>
              <a:t>محمد فرحان غصن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8200" y="2152650"/>
            <a:ext cx="3352800" cy="609600"/>
          </a:xfrm>
          <a:prstGeom prst="roundRect">
            <a:avLst>
              <a:gd name="adj" fmla="val 15625"/>
            </a:avLst>
          </a:prstGeom>
          <a:solidFill>
            <a:srgbClr val="F6F8F7"/>
          </a:solidFill>
          <a:ln w="19050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2152650"/>
            <a:ext cx="33528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450" b="1">
                <a:solidFill>
                  <a:srgbClr val="14181B"/>
                </a:solidFill>
                <a:latin typeface="Noto Sans"/>
                <a:cs typeface="Noto Sans Arabic"/>
              </a:rPr>
              <a:t>محمد سمير الجاعوني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2952750"/>
            <a:ext cx="3352800" cy="609600"/>
          </a:xfrm>
          <a:prstGeom prst="roundRect">
            <a:avLst>
              <a:gd name="adj" fmla="val 15625"/>
            </a:avLst>
          </a:prstGeom>
          <a:solidFill>
            <a:srgbClr val="F6F8F7"/>
          </a:solidFill>
          <a:ln w="19050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2952750"/>
            <a:ext cx="33528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450" b="1">
                <a:solidFill>
                  <a:srgbClr val="14181B"/>
                </a:solidFill>
                <a:latin typeface="Noto Sans"/>
                <a:cs typeface="Noto Sans Arabic"/>
              </a:rPr>
              <a:t>محمد ياسر الدخل الله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9600" y="2952750"/>
            <a:ext cx="3352800" cy="609600"/>
          </a:xfrm>
          <a:prstGeom prst="roundRect">
            <a:avLst>
              <a:gd name="adj" fmla="val 15625"/>
            </a:avLst>
          </a:prstGeom>
          <a:solidFill>
            <a:srgbClr val="F6F8F7"/>
          </a:solidFill>
          <a:ln w="19050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9600" y="2952750"/>
            <a:ext cx="33528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450" b="1">
                <a:solidFill>
                  <a:srgbClr val="14181B"/>
                </a:solidFill>
                <a:latin typeface="Noto Sans"/>
                <a:cs typeface="Noto Sans Arabic"/>
              </a:rPr>
              <a:t>محمد قاسم السحوم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8200" y="2952750"/>
            <a:ext cx="3352800" cy="609600"/>
          </a:xfrm>
          <a:prstGeom prst="roundRect">
            <a:avLst>
              <a:gd name="adj" fmla="val 15625"/>
            </a:avLst>
          </a:prstGeom>
          <a:solidFill>
            <a:srgbClr val="F6F8F7"/>
          </a:solidFill>
          <a:ln w="19050">
            <a:solidFill>
              <a:srgbClr val="E2E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2952750"/>
            <a:ext cx="33528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450" b="1">
                <a:solidFill>
                  <a:srgbClr val="14181B"/>
                </a:solidFill>
                <a:latin typeface="Noto Sans"/>
                <a:cs typeface="Noto Sans Arabic"/>
              </a:rPr>
              <a:t>علاء محمد الشريف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9750" y="39243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1400" b="0">
                <a:solidFill>
                  <a:srgbClr val="4A5258"/>
                </a:solidFill>
                <a:latin typeface="Noto Sans"/>
                <a:cs typeface="Noto Sans Arabic"/>
              </a:rPr>
              <a:t>بإشراف: المهندس خالد إسماعيل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4572000"/>
            <a:ext cx="10477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8000"/>
              </a:lnSpc>
            </a:pPr>
            <a:r>
              <a:rPr sz="3400" b="1">
                <a:solidFill>
                  <a:srgbClr val="1F3B63"/>
                </a:solidFill>
                <a:latin typeface="Noto Sans"/>
                <a:cs typeface="Noto Sans Arabic"/>
              </a:rPr>
              <a:t>أسئلتكم؟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65532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6B7480"/>
                </a:solidFill>
                <a:latin typeface="Noto Sans"/>
                <a:cs typeface="Noto Sans Arabic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